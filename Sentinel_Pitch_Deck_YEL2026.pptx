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530352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71907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YEL BUILD $ BANK 2026  •  TRACK 2  •  PROBLEM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6012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Arial"/>
              </a:defRPr>
            </a:pPr>
            <a: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9601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Arial"/>
              </a:defRPr>
            </a:pPr>
            <a:r>
              <a:t>Financial crime doesn't hide in transactions. It hides in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t>Sentinel connects transactions, accounts, beneficiaries, and time-based behaviour to expose coordinated financial crime that isolated transaction-level detection misses.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892040"/>
            <a:ext cx="9966960" cy="1097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502920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PROBLEM STATEMENT: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“Find a way to catch financial crime that only becomes visible across many transactions or accounts over time.”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01 / THE CORE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Financial crime is bigger than a single transaction.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Why isolated, point-in-time fraud detection fails against modern distributed financial crime networks.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t>TRADITIONAL TRANSACTION INSPECTION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 Evaluates in isolation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   Analyses individual payments at time of authorization. Looks only at immediate amount, velocity, and device footprint.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 Blind to coordinated distribution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   Criminal operations deliberately break illicit activity across multiple disparate accounts, micro-amounts, and staggered time intervals.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 High False Positive tax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   Tightening single-transaction rules flags legitimate customers while letting structured, slow-moving coordinated rings slip past undetected.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 Misses network evolution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   Attackers iteratively mutate account hops and timing patterns faster than static rule engines can be updated.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THE PATTERN REALITY: HOW CRIME ACTUALLY MOVES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57400"/>
            <a:ext cx="475488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3055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Txn A  |  Account #1042 → Beneficiary X  •  ₹4,950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Status: Looks normal (Below KYC check)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15768"/>
            <a:ext cx="475488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7889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Txn B  |  Account #2891 → Beneficiary X  •  ₹4,800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Status: Looks normal (New device)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74136"/>
            <a:ext cx="475488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44728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Txn C  |  Account #8410 → Beneficiary Y  •  ₹4,900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Status: Looks normal (Regular UPI flow)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32504"/>
            <a:ext cx="475488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105656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Txn D  |  Account #9123 → Beneficiary X  •  ₹4,990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Status: Looks normal (Low velocity)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00600"/>
            <a:ext cx="4754880" cy="1234440"/>
          </a:xfrm>
          <a:prstGeom prst="roundRect">
            <a:avLst/>
          </a:prstGeom>
          <a:solidFill>
            <a:srgbClr val="180F1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892040"/>
            <a:ext cx="43891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Arial"/>
              </a:defRPr>
            </a:pPr>
            <a:r>
              <a:t>⚡ CONNECTED THROUGH COMMON DESTINATION &amp; TIMING: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Coordinated Mule Smurfing Ring Funneling ₹19,640 into shared off-ramp entity within a 45-minute window. Single-txn engines approve all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02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Sentinel: Pattern Intelligence for Financial Crime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 multi-scale intelligence engine that connects entities, tracks temporal behaviour, and explains coordinated risks.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480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END-TO-END PATTERN INTELLIGENCE PIPELINE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1. Streaming Transaction Ingestion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Captures raw payments with strict temporal causality.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2. Multi-Window Spatio-Temporal Extraction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Calculates 67 rolling features across 1h, 24h, 7d intervals.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3. Entity &amp; Relationship Graph Linking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Connects accounts, beneficiaries, devices, and shared IP hops.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4. ML Ensemble &amp; Threat Pattern Classification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Scores risk probability &amp; assigns specific crime taxonomy.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5. Explainable Inspector &amp; Reason Codes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Provides SHAP-style local feature contributions &amp; counterfactuals.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6. Adaptive Mutation &amp; Feedback Loop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Stress-tests defense against synthetic pattern evasions.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1208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53212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REAL APPLICATION INTERFACE: Live streaming transaction monitor with instant risk stratification (Actionable Flag vs Low Risk), real-time pattern taxonomy tagging, and batch inspector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03 / TECHNICAL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From isolated payments to connected patterns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The four-stage operational framework powering Sentinel's pattern intelligence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2212848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01 / MAP</a:t>
            </a:r>
          </a:p>
          <a:p>
            <a:pPr>
              <a:spcBef>
                <a:spcPts val="3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Pattern Taxonomy</a:t>
            </a:r>
          </a:p>
          <a:p>
            <a:pPr>
              <a:spcBef>
                <a:spcPts val="400"/>
              </a:spcBef>
              <a:defRPr sz="800">
                <a:solidFill>
                  <a:srgbClr val="1E293B"/>
                </a:solidFill>
              </a:defRPr>
            </a:pPr>
            <a:r>
              <a:t>————————————————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Formalizes 9 distinct financial crime families across 67 mathematical features.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Captures temporal bursts, structuring, mule fan-ins, and cycling.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Eliminates reliance on arbitrary single-rule heuristics.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554480"/>
            <a:ext cx="2212848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02 / SIMULATE</a:t>
            </a:r>
          </a:p>
          <a:p>
            <a:pPr>
              <a:spcBef>
                <a:spcPts val="3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Scenario Stress-Testing</a:t>
            </a:r>
          </a:p>
          <a:p>
            <a:pPr>
              <a:spcBef>
                <a:spcPts val="400"/>
              </a:spcBef>
              <a:defRPr sz="800">
                <a:solidFill>
                  <a:srgbClr val="1E293B"/>
                </a:solidFill>
              </a:defRPr>
            </a:pPr>
            <a:r>
              <a:t>————————————————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Generates realistic multi-account attack vectors at varying scales.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Tests detector boundaries against coordinated smurfing &amp; velocity jumps.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Evaluates detector without risking live payment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42032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554480"/>
            <a:ext cx="2212848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03 / DETECT</a:t>
            </a:r>
          </a:p>
          <a:p>
            <a:pPr>
              <a:spcBef>
                <a:spcPts val="3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Stacked ML Ensemble</a:t>
            </a:r>
          </a:p>
          <a:p>
            <a:pPr>
              <a:spcBef>
                <a:spcPts val="400"/>
              </a:spcBef>
              <a:defRPr sz="800">
                <a:solidFill>
                  <a:srgbClr val="1E293B"/>
                </a:solidFill>
              </a:defRPr>
            </a:pPr>
            <a:r>
              <a:t>————————————————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Combines gradient boosted trees &amp; temporal network feature aggregations.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Calculates Wilson 95% confidence intervals on pattern recalls.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Delivers calibrated risk probabilities and immediate reason codes.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42032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554480"/>
            <a:ext cx="2212848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04 / EVOLVE</a:t>
            </a:r>
          </a:p>
          <a:p>
            <a:pPr>
              <a:spcBef>
                <a:spcPts val="3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Adaptive Arms Race</a:t>
            </a:r>
          </a:p>
          <a:p>
            <a:pPr>
              <a:spcBef>
                <a:spcPts val="400"/>
              </a:spcBef>
              <a:defRPr sz="800">
                <a:solidFill>
                  <a:srgbClr val="1E293B"/>
                </a:solidFill>
              </a:defRPr>
            </a:pPr>
            <a:r>
              <a:t>————————————————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Applies programmatic mutations (staggered timing, amount jitter).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Monitors detection degradation under adversary evasion tactics.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• Quantifies defensive robustness across mutation iterations.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04 / PRODUCT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Built for investigation, not just scoring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Deep operational toolset paired with a production-ready, strictly verifiable technology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6400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OPERATIONAL INVESTIGATION CAPABILITIES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 1. Transaction Inspector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   Deep forensic view explaining exactly why an event was flagged with risk factor attribution.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 2. Related Transaction Analysis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   Instant discovery of connected transfers across shared origin accounts and common targets.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 3. Mule-Ring Detection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   Identifies fan-in convergence patterns where multiple feeder accounts channel funds to common off-ramps.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 4. Campaign Clustering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   Detects coordinated multi-account bursts operating synchronously across narrow time windows.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 5. Threat Pattern Catalog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   Comprehensive taxonomy indexing 9 verified financial crime patterns with baseline metrics.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 6. Adaptive Mutation Lab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   Stress-tests detection models against iterative attack permutations and evasive timing shifts.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56616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54480"/>
            <a:ext cx="31089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VERIFIED REPOSITORY STACK</a:t>
            </a:r>
          </a:p>
          <a:p>
            <a:pPr>
              <a:spcBef>
                <a:spcPts val="600"/>
              </a:spcBef>
              <a:defRPr sz="850" b="1">
                <a:solidFill>
                  <a:srgbClr val="0EA5E9"/>
                </a:solidFill>
                <a:latin typeface="Arial"/>
              </a:defRPr>
            </a:pPr>
            <a:r>
              <a:t>FRONTEND ARCHITECTURE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React 18 + TypeScript + Vite</a:t>
            </a:r>
          </a:p>
          <a:p>
            <a:pPr>
              <a:spcBef>
                <a:spcPts val="600"/>
              </a:spcBef>
              <a:defRPr sz="850" b="1">
                <a:solidFill>
                  <a:srgbClr val="0EA5E9"/>
                </a:solidFill>
                <a:latin typeface="Arial"/>
              </a:defRPr>
            </a:pPr>
            <a:r>
              <a:t>UI &amp; COMPONENT STYLING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Tailwind CSS + Lucide Icons</a:t>
            </a:r>
          </a:p>
          <a:p>
            <a:pPr>
              <a:spcBef>
                <a:spcPts val="600"/>
              </a:spcBef>
              <a:defRPr sz="850" b="1">
                <a:solidFill>
                  <a:srgbClr val="0EA5E9"/>
                </a:solidFill>
                <a:latin typeface="Arial"/>
              </a:defRPr>
            </a:pPr>
            <a:r>
              <a:t>DATA VISUALIZATION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Recharts (ROC, PR, Metric Trends)</a:t>
            </a:r>
          </a:p>
          <a:p>
            <a:pPr>
              <a:spcBef>
                <a:spcPts val="600"/>
              </a:spcBef>
              <a:defRPr sz="850" b="1">
                <a:solidFill>
                  <a:srgbClr val="0EA5E9"/>
                </a:solidFill>
                <a:latin typeface="Arial"/>
              </a:defRPr>
            </a:pPr>
            <a:r>
              <a:t>BACKEND SERVICES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Python 3.11 + FastAPI (REST)</a:t>
            </a:r>
          </a:p>
          <a:p>
            <a:pPr>
              <a:spcBef>
                <a:spcPts val="600"/>
              </a:spcBef>
              <a:defRPr sz="850" b="1">
                <a:solidFill>
                  <a:srgbClr val="0EA5E9"/>
                </a:solidFill>
                <a:latin typeface="Arial"/>
              </a:defRPr>
            </a:pPr>
            <a:r>
              <a:t>MACHINE LEARNING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scikit-learn ensemble + NumPy</a:t>
            </a:r>
          </a:p>
          <a:p>
            <a:pPr>
              <a:spcBef>
                <a:spcPts val="600"/>
              </a:spcBef>
              <a:defRPr sz="850" b="1">
                <a:solidFill>
                  <a:srgbClr val="0EA5E9"/>
                </a:solidFill>
                <a:latin typeface="Arial"/>
              </a:defRPr>
            </a:pPr>
            <a:r>
              <a:t>DATA PERSISTENCE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SQLite (Causal timeline storage)</a:t>
            </a:r>
          </a:p>
          <a:p>
            <a:pPr>
              <a:spcBef>
                <a:spcPts val="600"/>
              </a:spcBef>
              <a:defRPr sz="850" b="1">
                <a:solidFill>
                  <a:srgbClr val="0EA5E9"/>
                </a:solidFill>
                <a:latin typeface="Arial"/>
              </a:defRPr>
            </a:pPr>
            <a:r>
              <a:t>CLOUD DEPLOYMENT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Vercel Edge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05 / TECHNICAL DEPTH &amp;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Explainable, adaptive, and measurable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Moving beyond black-box classification: answering the 5 critical investigative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NOT JUST 'FRAUD: YES' — ACTIONABLE ANSWERS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WHY WAS IT FLAGGED?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Reason codes ranking top contributing spatio-temporal features and threshold boundaries.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WHAT IS IT CONNECTED TO?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Entity resolution linking past counterparties, shared beneficiary IDs, and IP clusters.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WHAT PATTERN DOES IT REPRESENT?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Classification into 9 financial crime taxonomies (Mule smurfing, Layering, Velocity jump).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HOW WELL DOES THE MODEL PERFORM?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Per-pattern recall evaluation with rigorous 95% Wilson confidence intervals.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HOW DOES IT HANDLE EVASION?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Adversarial mutation testing measuring detector degradation across synthetic evasion 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029200" cy="2240280"/>
          </a:xfrm>
          <a:prstGeom prst="rect">
            <a:avLst/>
          </a:prstGeom>
        </p:spPr>
      </p:pic>
      <p:pic>
        <p:nvPicPr>
          <p:cNvPr id="9" name="Picture 8" descr="screen_def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886200"/>
            <a:ext cx="502920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06 / ROADMAP &amp; REALISTIC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From prototype to financial-crime infrastructure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Honest evaluation of current engineering boundaries and the roadmap to enterprise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CURRENT TECHNICAL CHALLENGES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Distributed Entity Resolution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Mapping mule rings when fraudsters use synthetic or compromised accounts across disjoint banking rails.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Temporal Concept Drift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Criminal syndicates continually alter transaction cadences, velocity bursts, and threshold-avoidance amounts.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Investigation Queue Fatigue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Balancing high pattern recall with strict false-positive budgets to prevent analyst operational overload.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Synthetic vs Production Gap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Calibrating models on synthetic pattern datasets before exposing to massive production transaction noise.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Label Latency in Crime Data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Real financial crime confirmations often arrive weeks after execution via chargeback/SAR filings.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FUTURE PRODUCTION ROADMAP (LABELED SCOPE)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Graph-Native Detection Engines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Integrating Graph Neural Networks (GNNs) for sub-millisecond dynamic subgraph clustering.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Streaming Kafka / Flink Pipeline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Real-time stateful stream processing capable of handling 50,000+ UPI TPS.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Analyst Active Learning Loop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Incorporating human investigator resolution outcomes directly into incremental model updates.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Privacy-Preserving Federated Intelligence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Cross-institutional fraud signal sharing via secure multi-party computation without sharing PII.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 Enterprise Feature Store Integration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   Low-latency point-in-time feature computation via Redis / Feast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280160"/>
            <a:ext cx="8168335" cy="42976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645920"/>
            <a:ext cx="7436815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Arial"/>
              </a:defRPr>
            </a:pPr>
            <a:r>
              <a:t>SENTINEL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0EA5E9"/>
                </a:solidFill>
                <a:latin typeface="Arial"/>
              </a:defRPr>
            </a:pPr>
            <a:r>
              <a:t>Financial crime doesn't hide in transactions. It hides in patterns.</a:t>
            </a:r>
          </a:p>
          <a:p>
            <a:pPr algn="ctr"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YEL Build $ Bank 2026  •  Track 2 — Fraud Detection &amp; Financial Crime Prevention  •  Problem 5</a:t>
            </a:r>
          </a:p>
          <a:p>
            <a:pPr algn="ctr">
              <a:spcBef>
                <a:spcPts val="2000"/>
              </a:spcBef>
              <a:defRPr sz="1100" b="1">
                <a:solidFill>
                  <a:srgbClr val="E2E8F0"/>
                </a:solidFill>
                <a:latin typeface="Arial"/>
              </a:defRPr>
            </a:pPr>
            <a:r>
              <a:t>Live Web Application: https://sentinel-sand-two.vercel.app</a:t>
            </a:r>
            <a:br/>
            <a:r>
              <a:t>GitHub Repository: https://github.com/dhairyahuh/Sentinel</a:t>
            </a:r>
          </a:p>
          <a:p>
            <a:pPr algn="ctr">
              <a:spcBef>
                <a:spcPts val="16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Thank you to the Youth Economy Lab &amp; IGDTUW Review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